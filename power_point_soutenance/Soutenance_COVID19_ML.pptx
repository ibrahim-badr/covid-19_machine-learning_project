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1B3A5C"/>
                </a:solidFill>
                <a:latin typeface="Arial"/>
              </a:rPr>
              <a:t>Prévalence comorbidités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3791357747229072E-2"/>
          <c:y val="0.47153913089705457"/>
          <c:w val="0.91826913008265532"/>
          <c:h val="0.269475913744428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COVID+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Pneumonie</c:v>
                </c:pt>
                <c:pt idx="1">
                  <c:v>Diabète</c:v>
                </c:pt>
                <c:pt idx="2">
                  <c:v>Hypertension</c:v>
                </c:pt>
                <c:pt idx="3">
                  <c:v>Obésité</c:v>
                </c:pt>
                <c:pt idx="4">
                  <c:v>Tabagisme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38.5</c:v>
                </c:pt>
                <c:pt idx="1">
                  <c:v>26.2</c:v>
                </c:pt>
                <c:pt idx="2">
                  <c:v>31.8</c:v>
                </c:pt>
                <c:pt idx="3">
                  <c:v>27.1</c:v>
                </c:pt>
                <c:pt idx="4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9-4385-8741-8BB6E81F3F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COVID-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Pneumonie</c:v>
                </c:pt>
                <c:pt idx="1">
                  <c:v>Diabète</c:v>
                </c:pt>
                <c:pt idx="2">
                  <c:v>Hypertension</c:v>
                </c:pt>
                <c:pt idx="3">
                  <c:v>Obésité</c:v>
                </c:pt>
                <c:pt idx="4">
                  <c:v>Tabagisme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6.8</c:v>
                </c:pt>
                <c:pt idx="1">
                  <c:v>17.399999999999999</c:v>
                </c:pt>
                <c:pt idx="2">
                  <c:v>19.3</c:v>
                </c:pt>
                <c:pt idx="3">
                  <c:v>21.5</c:v>
                </c:pt>
                <c:pt idx="4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9-4385-8741-8BB6E81F3F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2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49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3657600" cy="3657600"/>
          </a:xfrm>
          <a:prstGeom prst="ellipse">
            <a:avLst/>
          </a:prstGeom>
          <a:solidFill>
            <a:srgbClr val="1B3A5C">
              <a:alpha val="4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914400" cy="914400"/>
          </a:xfrm>
          <a:prstGeom prst="ellipse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731520" y="3657600"/>
            <a:ext cx="2011680" cy="2011680"/>
          </a:xfrm>
          <a:prstGeom prst="ellipse">
            <a:avLst/>
          </a:prstGeom>
          <a:solidFill>
            <a:srgbClr val="1B3A5C">
              <a:alpha val="3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4008" cy="2103120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3474720" cy="274320"/>
          </a:xfrm>
          <a:prstGeom prst="rect">
            <a:avLst/>
          </a:prstGeom>
          <a:solidFill>
            <a:srgbClr val="2E7FBF">
              <a:alpha val="65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B0D4F0"/>
                </a:solidFill>
              </a:rPr>
              <a:t>MACHINE LEARNING  ·  SANTÉ PUBLIQUE  · 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7498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 du Statut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par Machine Learning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données SISVER Mexique  ·  260 919 patients anonymisés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096512"/>
            <a:ext cx="77724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41696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Ynov Campus  ·  Soutenance Machine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1696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Random Forest  ·  LightGBM  ·  Rég. Logistique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074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507492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886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Pandémie COVID-19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4663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2020 : saturation des hôpitaux, triage urgent des patients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 outil de détection rapide du COVID-19 à l'admission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pays (France, RGPD) ne publient pas leurs données patient individuelles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: le Mexique publie le dataset SISVER — 2,3 M de dossiers anonymisés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663440" cy="1143000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" y="3639312"/>
            <a:ext cx="4443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prédire si un patient est COVID+ ou COVID- à partir de ses données cliniques (comorbidités, âge, sexe) pour faciliter le triage médical 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7498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669280" y="749808"/>
            <a:ext cx="169164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742432" y="10058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263 007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42432" y="18288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bruts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7498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498080" y="749808"/>
            <a:ext cx="169164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571232" y="10058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260 919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571232" y="18288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8072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669280" y="2807208"/>
            <a:ext cx="169164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742432" y="30632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38.9%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42432" y="38862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COVID+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2807208"/>
            <a:ext cx="1691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498080" y="2807208"/>
            <a:ext cx="16916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571232" y="30632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571232" y="388620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cliniques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du Modèle de Machine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Prédire automatiquement si un patient est COVID+ ou COVID-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partir de ses caractéristiques cliniques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5176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502920" cy="502920"/>
          </a:xfrm>
          <a:prstGeom prst="ellipse">
            <a:avLst/>
          </a:prstGeom>
          <a:solidFill>
            <a:srgbClr val="2E7FBF">
              <a:alpha val="8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Binaire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COVID+ (1) vs COVID- (0)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supervisée : on dispose des étiquettes réelles pour entraîner le modèle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26517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337560" y="2057400"/>
            <a:ext cx="502920" cy="50292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H+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Outil de Triage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090672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filet de sécurité à l'admission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médicale basée sur les données cliniques disponibles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9202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265176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72200" y="2057400"/>
            <a:ext cx="502920" cy="50292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Priorité au Recall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090672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les Faux Négatifs (COVID+ non détectés)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manqué = propagation du virus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017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301752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886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: SISVER Mexique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Vigilancia Epidemiológica de Enfermedades Respiratorias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 M+ dossiers patients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anonymisées open source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variables cliniques disponibles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dès janvier 2020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libre — Secretaría de Salud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Médaillon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133088"/>
            <a:ext cx="7498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4133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425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Données brutes CSV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52728" y="4407408"/>
            <a:ext cx="1463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399032" y="4133088"/>
            <a:ext cx="749808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99032" y="4133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Silver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99032" y="4425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Nettoyage + filtrage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48840" y="4407408"/>
            <a:ext cx="1463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295144" y="4133088"/>
            <a:ext cx="749808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295144" y="41330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95144" y="44256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Format ML binaire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6160" y="749808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566160" y="749808"/>
            <a:ext cx="52120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703320" y="8869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cliniques retenues (14)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316736"/>
          <a:ext cx="4983480" cy="36825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Sexe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0=Femme, 1=Homme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Type de patient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0=Ambulatoire, 1=Hospitalisé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Pneumonie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Pneumonie diagnostiquée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Âge (4 tranches)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Enfant / Jeune / Adulte / Senior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One-Hot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Diabète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Antécédent diabète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BPCO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Bronchopneumopathie chronique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Asthme / Immunosuppression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Comorbidités respiratoires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Hypertension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Hypertension artérielle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Obésité / Maladie cardio.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Comorbidités métaboliques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Insuffisance rénale / Tabac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Comorbidités complémentaires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Binaire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Préparation &amp; Nettoyage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577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557784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0" cy="126187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868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valeurs manquantes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234440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codes 97, 98, 99 du systeme SISVER signifient non renseigne ou non applicable.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Remplaces par NaN puis lignes supprimees.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2 088 lignes eliminées (&lt; 0.8% du dataset).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5577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557784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54864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16712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258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Discretisation de l'age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 (continu, 0-100 ans) dominerait les calculs de distance.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Decoupe en 4 tranches via One-Hot Encoding 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(0-17) · Jeune (18-39) · Adulte (40-59) · Senior (60+).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5577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557784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3557016"/>
            <a:ext cx="548640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3557016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6484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Standardisation binaire 0/1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014216"/>
            <a:ext cx="4754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systeme SISVER encode : 1=Oui, 2=Non.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ML : 1=Presence, 0=Absence.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comorbidites recodees de 1/2 vers 1/0.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777240"/>
            <a:ext cx="26060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172200" y="777240"/>
            <a:ext cx="2606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09360" y="9144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37960" y="1463040"/>
            <a:ext cx="1874520" cy="74980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37960" y="14630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263 007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1938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Brut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2377440"/>
            <a:ext cx="1874520" cy="74980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37960" y="23774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260 919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28529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Nettoyé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291840"/>
            <a:ext cx="1874520" cy="74980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537960" y="32918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cols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37960" y="37673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Features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4206240"/>
            <a:ext cx="1874520" cy="74980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537960" y="42062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37960" y="4681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Encodage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Exploratoire des Données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5720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des classes</a:t>
            </a:r>
            <a:endParaRPr lang="en-US" sz="1300" dirty="0"/>
          </a:p>
        </p:txBody>
      </p:sp>
      <p:pic>
        <p:nvPicPr>
          <p:cNvPr id="7" name="Image 0" descr="/sessions/clever-admiring-cray/mnt/Covid-19_Machine-Learning_Project/data/layer_gold_data_model/distribution_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4462272" cy="1444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8620" y="2971800"/>
            <a:ext cx="4572000" cy="640080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30352" y="294436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Déséquilibre modéré : 38.9% COVID+ vs 61.1% COVID-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L'Accuracy seule est trompeuse. On utilise le F1-Score.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749808"/>
            <a:ext cx="3657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120640" y="749808"/>
            <a:ext cx="365760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257800" y="886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clés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57800" y="1298448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COVID+ (101 551 patients) vs COVID- (159 368)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 : 42.5 ans (écart-type 17 ans)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COVID+ tendanciellement plus âgés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Comorbidités corrélées entre elles (diabète ↔ hypertension ↔ obésité)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Pneumonie = variable la plus discriminante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333841378"/>
              </p:ext>
            </p:extLst>
          </p:nvPr>
        </p:nvGraphicFramePr>
        <p:xfrm>
          <a:off x="2379862" y="3624022"/>
          <a:ext cx="6398378" cy="1429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des Modèles Testés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algorithmes comparés, allant du modèle simple au plus sophistiqué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731520" cy="120700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319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solidFill>
            <a:srgbClr val="2E7FBF">
              <a:alpha val="2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FBF"/>
                </a:solidFill>
              </a:rPr>
              <a:t>Baseline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 reference lineaire. Interpretable, rapide. Bon point de comparaison.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731520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90872" y="115214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532120" y="1170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Benchmark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4688" y="148132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 par les K voisins les plus proches. Sensible a la dimensionnalite.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404872"/>
            <a:ext cx="4114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73152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9319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23444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Ensemble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0700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Agrege des centaines d'arbres de decision. Robuste au surapprentissage.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40487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2404872"/>
            <a:ext cx="41148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63440" y="2404872"/>
            <a:ext cx="7315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90872" y="247802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32120" y="24963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Classique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4688" y="280720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par hyperplan optimal. Teste sur sous-echantillon (20 000 patients).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41148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731520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9319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23444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★ Meilleur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0700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sequentiel. Etat de l'art. Selectionne comme modele final.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730752"/>
            <a:ext cx="4114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663440" y="3730752"/>
            <a:ext cx="41148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63440" y="3730752"/>
            <a:ext cx="7315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690872" y="3803904"/>
            <a:ext cx="6766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5532120" y="38221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Boosting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04688" y="413308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rapide du Gradient Boosting. Performances quasi-identiques a XGBoost.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 d'Entraînement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011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88696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Donnees Gold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260 919 patients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binaires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: COVID+ / COVID-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77440" y="278892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42032" y="749808"/>
            <a:ext cx="2011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542032" y="749808"/>
            <a:ext cx="201168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633472" y="886968"/>
            <a:ext cx="548640" cy="548640"/>
          </a:xfrm>
          <a:prstGeom prst="ellipse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633472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33472" y="1444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80/20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33472" y="1993392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 (meme ratio COVID+/COVID- dans train et test)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: 208 735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: 52 184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53712" y="278892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18304" y="749808"/>
            <a:ext cx="2011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18304" y="749808"/>
            <a:ext cx="20116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09744" y="88696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09744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9744" y="1444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9744" y="1993392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+ RandomizedSearchCV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croisee 3-fold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Sous-echantillon 30 000 pts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9984" y="278892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894576" y="749808"/>
            <a:ext cx="2011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894576" y="749808"/>
            <a:ext cx="201168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986016" y="886968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86016" y="886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86016" y="14447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Entrainement Final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86016" y="1993392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reentraines sur 100% du train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(F1-optimal)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sur le test set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le SVM est entraîné sur un sous-échantillon de 20 000 patients (temps de calcul O(n²) sur un dataset complet de 200K+ lignes prohibitif).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Métriques d'Évaluation Utilisées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566928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Pourquoi pas l'Accuracy ? — Avec 38.9% de positifs, un modèle naive prédisant toujours COVID- aurait 61% d'accuracy mais serait inutile.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06908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3749040" cy="27432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Precision × Recall / (P + 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865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principale. Équilibre entre Précision et Recall. Robuste face au déséquilibre de classes.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5087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406908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54880" y="1618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(Sensibilité)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039112"/>
            <a:ext cx="3749040" cy="27432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/ (VP + FN)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3865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COVID+ correctement détectés. Maximisé : on veut manquer le moins de cas possibles.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0690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3447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867912"/>
            <a:ext cx="3749040" cy="27432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3867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/ (VP + FP)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2153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prédits COVID+, combien le sont vraiment ? Faible précision = beaucoup de fausses alertes.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3337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17720" y="3337560"/>
            <a:ext cx="40690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54880" y="3447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 / PR-AUC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867912"/>
            <a:ext cx="374904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54880" y="3867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 sous la courbe ROC / Precision-Recall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42153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globale de discrimination indépendante du seuil. PR-AUC plus fiable en cas de déséquilibre.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Obtenus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5632704" cy="416052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XGBoost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0.5164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0.4363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0.8301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0.5720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0.5570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LightGBM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0.5164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0.4362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0.8289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0.5716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0.5562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0.4298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0.8529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0.5716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0.5570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Rég. Logistique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0.5170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0.4361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0.8219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0.5698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0.5499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KNN (K=5)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0.4938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0.4152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0.8027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0.5486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0.5871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0.5014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SVM (RBF)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0.5051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0.4267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0.8312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0.5630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0.6467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0.5388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749808"/>
            <a:ext cx="2971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897880" y="8046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Courbes ROC</a:t>
            </a:r>
            <a:endParaRPr lang="en-US" sz="1300" dirty="0"/>
          </a:p>
        </p:txBody>
      </p:sp>
      <p:pic>
        <p:nvPicPr>
          <p:cNvPr id="8" name="Image 0" descr="/sessions/clever-admiring-cray/mnt/Covid-19_Machine-Learning_Project/data/layer_gold_data_model/courbes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170432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 des Résultats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434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4348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88696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— Le Modèle Retenu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965960" cy="896112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17320" y="1353312"/>
            <a:ext cx="1051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COVID+ détectés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353312"/>
            <a:ext cx="1965960" cy="89611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51760" y="1353312"/>
            <a:ext cx="914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353312"/>
            <a:ext cx="1051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faux positifs élevé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Justification métier — Le Coût de l'Erreur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61488"/>
            <a:ext cx="4160520" cy="621792"/>
          </a:xfrm>
          <a:prstGeom prst="rect">
            <a:avLst/>
          </a:prstGeom>
          <a:solidFill>
            <a:srgbClr val="FEF3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 (COVID+ non détecté) = CATASTROPHIQUE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rentre chez lui, son état s'aggrave et il propage le virus.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41605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34290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(patient sain envoyé en test) = ACCEPTABLE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et temps médical, mais aucune mise en danger.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déséquilibre Recall/Precision est un choix délibéré, pas un défaut.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749808"/>
            <a:ext cx="3794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83480" y="749808"/>
            <a:ext cx="37947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0" y="8869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Importance des variables</a:t>
            </a:r>
            <a:endParaRPr lang="en-US" sz="1300" dirty="0"/>
          </a:p>
        </p:txBody>
      </p:sp>
      <p:pic>
        <p:nvPicPr>
          <p:cNvPr id="23" name="Image 0" descr="/sessions/clever-admiring-cray/mnt/Covid-19_Machine-Learning_Project/data/layer_gold_data_model/importance_features_meill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252728"/>
            <a:ext cx="3749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du Modèle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1605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02920" y="859536"/>
            <a:ext cx="502920" cy="50292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~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85953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Desequilibre des classes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40817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 COVID+ vs 61.1% COVID-. Ni SMOTE ni sur-echantillonnage utilises. La precision reste faible (~43%). Le modele genere beaucoup de faux positifs.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859536"/>
            <a:ext cx="502920" cy="502920"/>
          </a:xfrm>
          <a:prstGeom prst="ellipse">
            <a:avLst/>
          </a:prstGeom>
          <a:solidFill>
            <a:srgbClr val="2E7FBF">
              <a:alpha val="8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85953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Generalisation geographique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40817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limite au Mexique en 2020. Profils epidemiologiques differents selon les pays et les periodes (variants, vaccination). Validite externe a confirmer.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02920" y="3008376"/>
            <a:ext cx="502920" cy="50292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0837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Qualite des donnees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55701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97/98/99 (non renseignes) tres frequents sur certaines variables. Des informations cliniques importantes (severite, intubation, saturation O2) exclues car trop souvent manquantes.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89864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3008376"/>
            <a:ext cx="502920" cy="50292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00837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limitees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55701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14 variables cliniques. Donnees d'imagerie, resultats biologiques, duree des symptomes non disponibles. Un modele plus complet pourrait etre plus precis.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Améliorations Possibles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1605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02920" y="859536"/>
            <a:ext cx="502920" cy="50292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8595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Tuning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84448" y="886968"/>
            <a:ext cx="868680" cy="256032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84448" y="8869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</a:rPr>
              <a:t>Court terme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40817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 seuil de decision (0.5 par defaut) pour trouver le meilleur compromis Recall/Precision selon la capacite hospitaliere disponible.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749808"/>
            <a:ext cx="41605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46320" y="859536"/>
            <a:ext cx="502920" cy="50292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8595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Reechantillonnage (SMOTE)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27848" y="886968"/>
            <a:ext cx="868680" cy="25603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927848" y="8869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Court terme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140817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 des exemples synthetiques COVID+ pour equilibrer les classes. Peut ameliorer la precision sans sacrifier le Recall.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02920" y="3008376"/>
            <a:ext cx="502920" cy="502920"/>
          </a:xfrm>
          <a:prstGeom prst="ellipse">
            <a:avLst/>
          </a:prstGeom>
          <a:solidFill>
            <a:srgbClr val="2E7FBF">
              <a:alpha val="8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29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0083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Donnees enrichies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84448" y="3035808"/>
            <a:ext cx="868680" cy="256032"/>
          </a:xfrm>
          <a:prstGeom prst="rect">
            <a:avLst/>
          </a:prstGeom>
          <a:solidFill>
            <a:srgbClr val="2E7FBF">
              <a:alpha val="2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58444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FBF"/>
                </a:solidFill>
              </a:rPr>
              <a:t>Moyen terme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355701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Integrer d'autres pays, periodes plus recentes, statut vaccinal, variants. Ameliorer la generalisation geographique et temporelle.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289864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846320" y="3008376"/>
            <a:ext cx="502920" cy="50292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463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0083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avancees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27848" y="3035808"/>
            <a:ext cx="86868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92784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Long terme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3557016"/>
            <a:ext cx="385876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donnees biologiques (NFS, CRP, saturation O2), imagerie thoracique (CNN), duree des symptomes pour un modele plus complet.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1B3A5C">
              <a:alpha val="4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1B3A5C">
              <a:alpha val="35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097280" cy="1097280"/>
          </a:xfrm>
          <a:prstGeom prst="ellipse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64008" cy="4389120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1078992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201168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05840" y="112471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opérationnel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F1-Score 0.57 · AUC-ROC 0.66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83% : le modèle détecte la grande majorité des cas COVID+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7772400" cy="1078992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201168" cy="1078992"/>
          </a:xfrm>
          <a:prstGeom prst="rect">
            <a:avLst/>
          </a:prstGeom>
          <a:solidFill>
            <a:srgbClr val="2E7FBF"/>
          </a:solidFill>
          <a:ln w="12700">
            <a:solidFill>
              <a:srgbClr val="2E7F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métier assumé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15768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Maximiser le Recall au détriment de la Précision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sécurité sanitaire : mieux vaut un faux positif qu'un faux négatif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429000"/>
            <a:ext cx="7772400" cy="1078992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20116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05840" y="350215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04488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· SMOTE · données multi-pays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solide, extensible à d'autres contextes épidémiologiques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77724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" y="46817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B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 - 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1426</Words>
  <Application>Microsoft Office PowerPoint</Application>
  <PresentationFormat>Affichage à l'écran (16:9)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COVID-19 par Machine Learning</dc:title>
  <dc:subject>PptxGenJS Presentation</dc:subject>
  <dc:creator>Ynov Campus</dc:creator>
  <cp:lastModifiedBy>charly fournet</cp:lastModifiedBy>
  <cp:revision>2</cp:revision>
  <dcterms:created xsi:type="dcterms:W3CDTF">2026-05-26T14:34:04Z</dcterms:created>
  <dcterms:modified xsi:type="dcterms:W3CDTF">2026-05-26T14:49:53Z</dcterms:modified>
</cp:coreProperties>
</file>