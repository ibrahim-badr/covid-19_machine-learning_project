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5"/>
    <p:sldId id="261" r:id="rId7"/>
    <p:sldId id="270" r:id="rId14"/>
    <p:sldId id="262" r:id="rId8"/>
    <p:sldId id="265" r:id="rId11"/>
    <p:sldId id="271" r:id="rId12"/>
    <p:sldId id="267" r:id="rId13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5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1B3A5C"/>
                </a:solidFill>
                <a:latin typeface="Arial"/>
              </a:rPr>
              <a:t>Prévalence comorbidités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791357747229072E-2"/>
          <c:y val="0.47153913089705457"/>
          <c:w val="0.91826913008265532"/>
          <c:h val="0.26947591374442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COVID+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Pneumonie</c:v>
                </c:pt>
                <c:pt idx="1">
                  <c:v>Diabète</c:v>
                </c:pt>
                <c:pt idx="2">
                  <c:v>Hypertension</c:v>
                </c:pt>
                <c:pt idx="3">
                  <c:v>Obésité</c:v>
                </c:pt>
                <c:pt idx="4">
                  <c:v>Tabagisme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38.5</c:v>
                </c:pt>
                <c:pt idx="1">
                  <c:v>26.2</c:v>
                </c:pt>
                <c:pt idx="2">
                  <c:v>31.8</c:v>
                </c:pt>
                <c:pt idx="3">
                  <c:v>27.1</c:v>
                </c:pt>
                <c:pt idx="4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9-4385-8741-8BB6E81F3F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COVID-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Pneumonie</c:v>
                </c:pt>
                <c:pt idx="1">
                  <c:v>Diabète</c:v>
                </c:pt>
                <c:pt idx="2">
                  <c:v>Hypertension</c:v>
                </c:pt>
                <c:pt idx="3">
                  <c:v>Obésité</c:v>
                </c:pt>
                <c:pt idx="4">
                  <c:v>Tabagisme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6.8</c:v>
                </c:pt>
                <c:pt idx="1">
                  <c:v>17.399999999999999</c:v>
                </c:pt>
                <c:pt idx="2">
                  <c:v>19.3</c:v>
                </c:pt>
                <c:pt idx="3">
                  <c:v>21.5</c:v>
                </c:pt>
                <c:pt idx="4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9-4385-8741-8BB6E81F3F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2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49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3657600" cy="3657600"/>
          </a:xfrm>
          <a:prstGeom prst="ellipse">
            <a:avLst/>
          </a:prstGeom>
          <a:solidFill>
            <a:srgbClr val="1B3A5C">
              <a:alpha val="4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914400" cy="914400"/>
          </a:xfrm>
          <a:prstGeom prst="ellipse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731520" y="3657600"/>
            <a:ext cx="2011680" cy="2011680"/>
          </a:xfrm>
          <a:prstGeom prst="ellipse">
            <a:avLst/>
          </a:prstGeom>
          <a:solidFill>
            <a:srgbClr val="1B3A5C">
              <a:alpha val="3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4008" cy="2103120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3474720" cy="274320"/>
          </a:xfrm>
          <a:prstGeom prst="rect">
            <a:avLst/>
          </a:prstGeom>
          <a:solidFill>
            <a:srgbClr val="2E7FBF">
              <a:alpha val="65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B0D4F0"/>
                </a:solidFill>
              </a:rPr>
              <a:t>MACHINE LEARNING  ·  SANTÉ PUBLIQUE  · 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7498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 du Statut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par Machine Learning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données SISVER Mexique  ·  260 919 patients anonymisés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096512"/>
            <a:ext cx="77724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41696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Ynov Campus  ·  Soutenance Machine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1696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Random Forest  ·  LightGBM  ·  Rég. Logistique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74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507492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886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Pandémie COVID-19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4663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2020 : saturation des hôpitaux, triage urgent des patients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 outil de détection rapide du COVID-19 à l'admission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pays (France, RGPD) ne publient pas leurs données patient individuelles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: le Mexique publie le dataset SISVER — 2,3 M de dossiers anonymisés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663440" cy="1143000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" y="3639312"/>
            <a:ext cx="4443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prédire si un patient est COVID+ ou COVID- à partir de ses données cliniques (comorbidités, âge, sexe) pour faciliter le triage médical 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7498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669280" y="749808"/>
            <a:ext cx="169164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742432" y="10058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263 007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42432" y="18288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bruts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7498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498080" y="749808"/>
            <a:ext cx="169164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571232" y="10058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260 919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571232" y="18288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8072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669280" y="2807208"/>
            <a:ext cx="169164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742432" y="30632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38.9%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42432" y="38862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COVID+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28072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498080" y="2807208"/>
            <a:ext cx="16916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571232" y="30632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571232" y="38862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cliniques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017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301752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886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: SISVER Mexique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Vigilancia Epidemiológica de Enfermedades Respiratorias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 M+ dossiers patients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anonymisées open source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variables cliniques disponibles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dès janvier 2020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libre — Secretaría de Salud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Médaillon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33088"/>
            <a:ext cx="7498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4133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425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Données brutes CSV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52728" y="4407408"/>
            <a:ext cx="1463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399032" y="4133088"/>
            <a:ext cx="749808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99032" y="4133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Silver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4425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Nettoyage + filtrage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48840" y="4407408"/>
            <a:ext cx="1463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295144" y="4133088"/>
            <a:ext cx="749808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295144" y="4133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95144" y="4425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Format ML binaire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6160" y="749808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566160" y="749808"/>
            <a:ext cx="52120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703320" y="8869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cliniques retenues (14)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316736"/>
          <a:ext cx="4983480" cy="36825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Sexe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0=Femme, 1=Homme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Type de patient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0=Ambulatoire, 1=Hospitalisé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Pneumonie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Pneumonie diagnostiquée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Âge (4 tranches)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Enfant / Jeune / Adulte / Senior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One-Hot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Diabète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Antécédent diabète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BPCO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Bronchopneumopathie chronique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Asthme / Immunosuppression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Comorbidités respiratoires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Hypertension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Hypertension artérielle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Obésité / Maladie cardio.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Comorbidités métaboliques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Insuffisance rénale / Tabac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Comorbidités complémentaires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Exploratoire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5720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des classes</a:t>
            </a:r>
            <a:endParaRPr lang="en-US" sz="1300" dirty="0"/>
          </a:p>
        </p:txBody>
      </p:sp>
      <p:pic>
        <p:nvPicPr>
          <p:cNvPr id="7" name="Image 0" descr="/sessions/clever-admiring-cray/mnt/Covid-19_Machine-Learning_Project/data/layer_gold_data_model/distribution_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4462272" cy="1444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8620" y="2971800"/>
            <a:ext cx="4572000" cy="640080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30352" y="294436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Déséquilibre modéré : 38.9% COVID+ vs 61.1% COVID-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L'Accuracy seule est trompeuse. On utilise le F1-Score.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749808"/>
            <a:ext cx="3657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120640" y="749808"/>
            <a:ext cx="365760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257800" y="886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clés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57800" y="1298448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COVID+ (101 551 patients) vs COVID- (159 368)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 : 42.5 ans (écart-type 17 ans)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COVID+ tendanciellement plus âgés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Comorbidités corrélées entre elles (diabète ↔ hypertension ↔ obésité)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Pneumonie = variable la plus discriminante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333841378"/>
              </p:ext>
            </p:extLst>
          </p:nvPr>
        </p:nvGraphicFramePr>
        <p:xfrm>
          <a:off x="2379862" y="3624022"/>
          <a:ext cx="6398378" cy="1429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Non-Supervisée — Clustering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profils cliniques sans utiliser les étiquettes COVID+/COVID-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731520" cy="120700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319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</a:p>
        </p:txBody>
      </p:sp>
      <p:sp>
        <p:nvSpPr>
          <p:cNvPr id="10" name="Shape 8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solidFill>
            <a:srgbClr val="2E7FBF">
              <a:alpha val="2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FBF"/>
                </a:solidFill>
              </a:rPr>
              <a:t>Étape 1</a:t>
            </a:r>
          </a:p>
        </p:txBody>
      </p:sp>
      <p:sp>
        <p:nvSpPr>
          <p:cNvPr id="12" name="Text 10"/>
          <p:cNvSpPr/>
          <p:nvPr/>
        </p:nvSpPr>
        <p:spPr>
          <a:xfrm>
            <a:off x="120700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d'inertie pour estimer K. Données binaires → courbe lisse, pas de coude net. Méthode indicative.</a:t>
            </a:r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731520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9087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</a:p>
        </p:txBody>
      </p:sp>
      <p:sp>
        <p:nvSpPr>
          <p:cNvPr id="17" name="Shape 15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Étape 2</a:t>
            </a:r>
          </a:p>
        </p:txBody>
      </p:sp>
      <p:sp>
        <p:nvSpPr>
          <p:cNvPr id="19" name="Text 17"/>
          <p:cNvSpPr/>
          <p:nvPr/>
        </p:nvSpPr>
        <p:spPr>
          <a:xfrm>
            <a:off x="550468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calculé pour K=2 à 8 sur 10k patients. K_OPTIMAL = argmax(silhouette). Valeur dynamique, non figée.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404872"/>
            <a:ext cx="4114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73152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9319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</a:t>
            </a:r>
          </a:p>
        </p:txBody>
      </p:sp>
      <p:sp>
        <p:nvSpPr>
          <p:cNvPr id="24" name="Shape 22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Clustering</a:t>
            </a:r>
          </a:p>
        </p:txBody>
      </p:sp>
      <p:sp>
        <p:nvSpPr>
          <p:cNvPr id="26" name="Text 24"/>
          <p:cNvSpPr/>
          <p:nvPr/>
        </p:nvSpPr>
        <p:spPr>
          <a:xfrm>
            <a:off x="120700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MiniBatchKMeans avec K_OPTIMAL clusters sur 260 919 patients. Profils cliniques explorés par groupe.</a:t>
            </a:r>
          </a:p>
        </p:txBody>
      </p:sp>
      <p:sp>
        <p:nvSpPr>
          <p:cNvPr id="27" name="Shape 25"/>
          <p:cNvSpPr/>
          <p:nvPr/>
        </p:nvSpPr>
        <p:spPr>
          <a:xfrm>
            <a:off x="466344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2404872"/>
            <a:ext cx="41148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63440" y="2404872"/>
            <a:ext cx="7315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9087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</a:p>
        </p:txBody>
      </p:sp>
      <p:sp>
        <p:nvSpPr>
          <p:cNvPr id="31" name="Shape 29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Densité</a:t>
            </a:r>
          </a:p>
        </p:txBody>
      </p:sp>
      <p:sp>
        <p:nvSpPr>
          <p:cNvPr id="33" name="Text 31"/>
          <p:cNvSpPr/>
          <p:nvPr/>
        </p:nvSpPr>
        <p:spPr>
          <a:xfrm>
            <a:off x="550468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eps=0.35, min_samples=15, distance de Hamming. Résultat : 1 seul cluster dense, 0 bruit détecté.</a:t>
            </a:r>
          </a:p>
        </p:txBody>
      </p:sp>
      <p:sp>
        <p:nvSpPr>
          <p:cNvPr id="34" name="Shape 32"/>
          <p:cNvSpPr/>
          <p:nvPr/>
        </p:nvSpPr>
        <p:spPr>
          <a:xfrm>
            <a:off x="36576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41148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731520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9319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</a:p>
        </p:txBody>
      </p:sp>
      <p:sp>
        <p:nvSpPr>
          <p:cNvPr id="38" name="Shape 36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Choix</a:t>
            </a:r>
          </a:p>
        </p:txBody>
      </p:sp>
      <p:sp>
        <p:nvSpPr>
          <p:cNvPr id="40" name="Text 38"/>
          <p:cNvSpPr/>
          <p:nvPr/>
        </p:nvSpPr>
        <p:spPr>
          <a:xfrm>
            <a:off x="120700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exploratoire uniquement. On conserve les étiquettes COVID+/COVID- originales pour la classification.</a:t>
            </a:r>
          </a:p>
        </p:txBody>
      </p:sp>
      <p:sp>
        <p:nvSpPr>
          <p:cNvPr id="41" name="Shape 39"/>
          <p:cNvSpPr/>
          <p:nvPr/>
        </p:nvSpPr>
        <p:spPr>
          <a:xfrm>
            <a:off x="466344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663440" y="3730752"/>
            <a:ext cx="41148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63440" y="3730752"/>
            <a:ext cx="7315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69087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</a:p>
        </p:txBody>
      </p:sp>
      <p:sp>
        <p:nvSpPr>
          <p:cNvPr id="45" name="Shape 43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Cohérent</a:t>
            </a:r>
          </a:p>
        </p:txBody>
      </p:sp>
      <p:sp>
        <p:nvSpPr>
          <p:cNvPr id="47" name="Text 45"/>
          <p:cNvSpPr/>
          <p:nvPr/>
        </p:nvSpPr>
        <p:spPr>
          <a:xfrm>
            <a:off x="550468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sous-groupes distincts dans les données. Structure linéaire confirmée par les deux méthodes.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des Modèles Testés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algorithmes comparés, allant du modèle simple au plus sophistiqué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731520" cy="120700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319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solidFill>
            <a:srgbClr val="2E7FBF">
              <a:alpha val="2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FBF"/>
                </a:solidFill>
              </a:rPr>
              <a:t>Baseline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 reference lineaire. Interpretable, rapide. Bon point de comparaison.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731520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9087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Benchmark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468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 par les K voisins les plus proches. Sensible a la dimensionnalite.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404872"/>
            <a:ext cx="4114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73152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9319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Ensemble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0700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Agrege des centaines d'arbres de decision. Robuste au surapprentissage.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2404872"/>
            <a:ext cx="41148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63440" y="2404872"/>
            <a:ext cx="7315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9087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Classique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468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par hyperplan optimal. Teste sur sous-echantillon (20 000 patients).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41148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731520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9319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★ Meilleur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0700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sequentiel. Etat de l'art. Selectionne comme modele final.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663440" y="3730752"/>
            <a:ext cx="41148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63440" y="3730752"/>
            <a:ext cx="7315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69087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Boosting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0468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rapide du Gradient Boosting. Performances quasi-identiques a XGBoost.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Obtenus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5632704" cy="416052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XGBoost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0.5164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0.4363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0.8301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0.5720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0.5570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LightGBM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0.5164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0.4362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0.8289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0.5716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0.5562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0.4298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0.8529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0.5716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0.5570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Rég. Logistique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0.5170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0.4361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0.8219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0.5698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0.5499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KNN (K=5)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0.4938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0.4152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0.8027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0.5486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0.5871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0.5014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SVM (RBF)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0.5051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0.4267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0.8312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0.5630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0.6467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0.5388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749808"/>
            <a:ext cx="2971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897880" y="8046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b="1" sz="1100" dirty="0">
                <a:solidFill>
                  <a:srgbClr val="1C3557"/>
                </a:solidFill>
              </a:rPr>
              <a:t>Courbes ROC — Comparaison des modèles</a:t>
            </a:r>
          </a:p>
        </p:txBody>
      </p:sp>
      <p:pic>
        <p:nvPicPr>
          <p:cNvPr id="8" name="Image 0" descr="/sessions/clever-admiring-cray/mnt/Covid-19_Machine-Learning_Project/data/layer_gold_data_model/courbes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170432"/>
            <a:ext cx="2926080" cy="25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35600" y="3744000"/>
            <a:ext cx="29268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-100"/>
            <a:r>
              <a:rPr lang="fr-FR" dirty="0" sz="900" b="1">
                <a:solidFill>
                  <a:srgbClr val="1C3557"/>
                </a:solidFill>
              </a:rPr>
              <a:t>Axe X (FPR) :</a:t>
            </a:r>
            <a:r>
              <a:rPr lang="fr-FR" dirty="0" sz="900">
                <a:solidFill>
                  <a:srgbClr val="333333"/>
                </a:solidFill>
              </a:rPr>
              <a:t> taux de faux positifs (sains classés COVID+).</a:t>
            </a:r>
          </a:p>
          <a:p>
            <a:pPr spc="-100"/>
            <a:r>
              <a:rPr lang="fr-FR" dirty="0" sz="900" b="1">
                <a:solidFill>
                  <a:srgbClr val="1C3557"/>
                </a:solidFill>
              </a:rPr>
              <a:t>Axe Y (Recall) :</a:t>
            </a:r>
            <a:r>
              <a:rPr lang="fr-FR" dirty="0" sz="900">
                <a:solidFill>
                  <a:srgbClr val="333333"/>
                </a:solidFill>
              </a:rPr>
              <a:t> taux de vrais COVID+ détectés.</a:t>
            </a:r>
          </a:p>
          <a:p>
            <a:pPr spc="-100"/>
            <a:r>
              <a:rPr lang="fr-FR" dirty="0" sz="900" b="1">
                <a:solidFill>
                  <a:srgbClr val="888888"/>
                </a:solidFill>
              </a:rPr>
              <a:t>Diagonale = aléatoire (AUC=0.50).</a:t>
            </a:r>
            <a:r>
              <a:rPr lang="fr-FR" dirty="0" sz="900">
                <a:solidFill>
                  <a:srgbClr val="333333"/>
                </a:solidFill>
              </a:rPr>
              <a:t> Plus la courbe s'en écarte, meilleur est le modèle.</a:t>
            </a:r>
          </a:p>
          <a:p>
            <a:pPr spc="-100"/>
            <a:r>
              <a:rPr lang="fr-FR" dirty="0" sz="900" b="1">
                <a:solidFill>
                  <a:srgbClr val="C0392B"/>
                </a:solidFill>
              </a:rPr>
              <a:t>AUC=0.66</a:t>
            </a:r>
            <a:r>
              <a:rPr lang="fr-FR" dirty="0" sz="900">
                <a:solidFill>
                  <a:srgbClr val="333333"/>
                </a:solidFill>
              </a:rPr>
              <a:t> → le modèle discrimine 32 % mieux que le hasard.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Croisée — Robustesse Confirmée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StratifiedKFold sur 260 919 patients — résultats stables et reproductibles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731520" cy="120700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319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</a:p>
        </p:txBody>
      </p:sp>
      <p:sp>
        <p:nvSpPr>
          <p:cNvPr id="10" name="Shape 8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solidFill>
            <a:srgbClr val="2E7FBF">
              <a:alpha val="2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FBF"/>
                </a:solidFill>
              </a:rPr>
              <a:t>Validation</a:t>
            </a:r>
          </a:p>
        </p:txBody>
      </p:sp>
      <p:sp>
        <p:nvSpPr>
          <p:cNvPr id="12" name="Text 10"/>
          <p:cNvSpPr/>
          <p:nvPr/>
        </p:nvSpPr>
        <p:spPr>
          <a:xfrm>
            <a:off x="120700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scores ne dépendent pas d'un découpage 80/20 particulier. Tester la généralisation réelle.</a:t>
            </a:r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731520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9087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</a:t>
            </a:r>
          </a:p>
        </p:txBody>
      </p:sp>
      <p:sp>
        <p:nvSpPr>
          <p:cNvPr id="17" name="Shape 15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Méthode</a:t>
            </a:r>
          </a:p>
        </p:txBody>
      </p:sp>
      <p:sp>
        <p:nvSpPr>
          <p:cNvPr id="19" name="Text 17"/>
          <p:cNvSpPr/>
          <p:nvPr/>
        </p:nvSpPr>
        <p:spPr>
          <a:xfrm>
            <a:off x="550468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StratifiedKFold, 3 folds stratifiés. ~87 000 patients en test, ~174 000 en train à chaque fold.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404872"/>
            <a:ext cx="4114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73152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9319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F1=0.5711</a:t>
            </a:r>
          </a:p>
        </p:txBody>
      </p:sp>
      <p:sp>
        <p:nvSpPr>
          <p:cNvPr id="24" name="Shape 22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★ Meilleur</a:t>
            </a:r>
          </a:p>
        </p:txBody>
      </p:sp>
      <p:sp>
        <p:nvSpPr>
          <p:cNvPr id="26" name="Text 24"/>
          <p:cNvSpPr/>
          <p:nvPr/>
        </p:nvSpPr>
        <p:spPr>
          <a:xfrm>
            <a:off x="120700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F1=0.5711 ±0.0007 | Recall=0.8267 | AUC=0.6569. Meilleur modèle de façon constante sur tous les folds.</a:t>
            </a:r>
          </a:p>
        </p:txBody>
      </p:sp>
      <p:sp>
        <p:nvSpPr>
          <p:cNvPr id="27" name="Shape 25"/>
          <p:cNvSpPr/>
          <p:nvPr/>
        </p:nvSpPr>
        <p:spPr>
          <a:xfrm>
            <a:off x="466344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2404872"/>
            <a:ext cx="41148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63440" y="2404872"/>
            <a:ext cx="7315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9087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F1=0.5707</a:t>
            </a:r>
          </a:p>
        </p:txBody>
      </p:sp>
      <p:sp>
        <p:nvSpPr>
          <p:cNvPr id="31" name="Shape 29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2e modèle</a:t>
            </a:r>
          </a:p>
        </p:txBody>
      </p:sp>
      <p:sp>
        <p:nvSpPr>
          <p:cNvPr id="33" name="Text 31"/>
          <p:cNvSpPr/>
          <p:nvPr/>
        </p:nvSpPr>
        <p:spPr>
          <a:xfrm>
            <a:off x="550468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F1=0.5707 ±0.0007 | Recall=0.8245 | AUC=0.6565. Quasi-identique à XGBoost en performances.</a:t>
            </a:r>
          </a:p>
        </p:txBody>
      </p:sp>
      <p:sp>
        <p:nvSpPr>
          <p:cNvPr id="34" name="Shape 32"/>
          <p:cNvSpPr/>
          <p:nvPr/>
        </p:nvSpPr>
        <p:spPr>
          <a:xfrm>
            <a:off x="36576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41148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731520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9319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Log.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F1=0.5701</a:t>
            </a:r>
          </a:p>
        </p:txBody>
      </p:sp>
      <p:sp>
        <p:nvSpPr>
          <p:cNvPr id="38" name="Shape 36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Stable</a:t>
            </a:r>
          </a:p>
        </p:txBody>
      </p:sp>
      <p:sp>
        <p:nvSpPr>
          <p:cNvPr id="40" name="Text 38"/>
          <p:cNvSpPr/>
          <p:nvPr/>
        </p:nvSpPr>
        <p:spPr>
          <a:xfrm>
            <a:off x="120700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F1=0.5701 ±0.0010 | Recall=0.8222 | AUC=0.6536. Très stable malgré sa simplicité.</a:t>
            </a:r>
          </a:p>
        </p:txBody>
      </p:sp>
      <p:sp>
        <p:nvSpPr>
          <p:cNvPr id="41" name="Shape 39"/>
          <p:cNvSpPr/>
          <p:nvPr/>
        </p:nvSpPr>
        <p:spPr>
          <a:xfrm>
            <a:off x="466344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663440" y="3730752"/>
            <a:ext cx="41148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63440" y="3730752"/>
            <a:ext cx="7315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69087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</a:p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Confirmée</a:t>
            </a:r>
          </a:p>
        </p:txBody>
      </p:sp>
      <p:sp>
        <p:nvSpPr>
          <p:cNvPr id="45" name="Shape 43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±0.001</a:t>
            </a:r>
          </a:p>
        </p:txBody>
      </p:sp>
      <p:sp>
        <p:nvSpPr>
          <p:cNvPr id="47" name="Text 45"/>
          <p:cNvSpPr/>
          <p:nvPr/>
        </p:nvSpPr>
        <p:spPr>
          <a:xfrm>
            <a:off x="550468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Écart-type &lt; 0.001 sur tous les modèles. Les performances sont réelles, pas liées au hasard du découpage.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du Modèle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1605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02920" y="859536"/>
            <a:ext cx="502920" cy="50292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~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85953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Desequilibre des classes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0817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 COVID+ vs 61.1% COVID-. Ni SMOTE ni sur-echantillonnage utilises. La precision reste faible (~43%). Le modele genere beaucoup de faux positifs.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859536"/>
            <a:ext cx="502920" cy="502920"/>
          </a:xfrm>
          <a:prstGeom prst="ellipse">
            <a:avLst/>
          </a:prstGeom>
          <a:solidFill>
            <a:srgbClr val="2E7FBF">
              <a:alpha val="8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85953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Generalisation geographique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40817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limite au Mexique en 2020. Profils epidemiologiques differents selon les pays et les periodes (variants, vaccination). Validite externe a confirmer.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02920" y="3008376"/>
            <a:ext cx="502920" cy="50292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0837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Qualite des donnees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55701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97/98/99 (non renseignes) tres frequents sur certaines variables. Des informations cliniques importantes (severite, intubation, saturation O2) exclues car trop souvent manquantes.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89864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3008376"/>
            <a:ext cx="502920" cy="50292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00837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limitees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55701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14 variables cliniques. Donnees d'imagerie, resultats biologiques, duree des symptomes non disponibles. Un modele plus complet pourrait etre plus precis.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1B3A5C">
              <a:alpha val="4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1B3A5C">
              <a:alpha val="3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097280" cy="1097280"/>
          </a:xfrm>
          <a:prstGeom prst="ellipse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64008" cy="4389120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7600" y="882000"/>
            <a:ext cx="7772400" cy="144000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85800" y="882000"/>
            <a:ext cx="201168" cy="1440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05840" y="9540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opérationnel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50000"/>
            <a:ext cx="7200000" cy="917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spc="-100"/>
            <a:r>
              <a:rPr lang="fr-FR" dirty="0" sz="1000" b="1">
                <a:solidFill>
                  <a:srgbClr val="E74C3C"/>
                </a:solidFill>
              </a:rPr>
              <a:t>F1-Score 0.57</a:t>
            </a:r>
            <a:r>
              <a:rPr lang="fr-FR" dirty="0" sz="1000">
                <a:solidFill>
                  <a:srgbClr val="E8EDF2"/>
                </a:solidFill>
              </a:rPr>
              <a:t> : moy. harmonique Précision/Recall. Plus fiable qu'Accuracy sur données déséquilibrées.</a:t>
            </a:r>
          </a:p>
          <a:p>
            <a:pPr spc="-100"/>
            <a:r>
              <a:rPr lang="fr-FR" dirty="0" sz="1000" b="1">
                <a:solidFill>
                  <a:srgbClr val="58D68D"/>
                </a:solidFill>
              </a:rPr>
              <a:t>Recall 0.83</a:t>
            </a:r>
            <a:r>
              <a:rPr lang="fr-FR" dirty="0" sz="1000">
                <a:solidFill>
                  <a:srgbClr val="E8EDF2"/>
                </a:solidFill>
              </a:rPr>
              <a:t> : 83 % des COVID+ correctement détectés — métrique prioritaire en triage médical.</a:t>
            </a:r>
          </a:p>
          <a:p>
            <a:pPr spc="-100"/>
            <a:r>
              <a:rPr lang="fr-FR" dirty="0" sz="1000" b="1">
                <a:solidFill>
                  <a:srgbClr val="BB8FCE"/>
                </a:solidFill>
              </a:rPr>
              <a:t>Précision 0.43</a:t>
            </a:r>
            <a:r>
              <a:rPr lang="fr-FR" dirty="0" sz="1000">
                <a:solidFill>
                  <a:srgbClr val="E8EDF2"/>
                </a:solidFill>
              </a:rPr>
              <a:t> : 43 % des alertes sont de vrais COVID+. Acceptable : un faux positif = test PCR.</a:t>
            </a:r>
          </a:p>
          <a:p>
            <a:pPr spc="-100"/>
            <a:r>
              <a:rPr lang="fr-FR" dirty="0" sz="1000" b="1">
                <a:solidFill>
                  <a:srgbClr val="5DADE2"/>
                </a:solidFill>
              </a:rPr>
              <a:t>AUC-ROC 0.66</a:t>
            </a:r>
            <a:r>
              <a:rPr lang="fr-FR" dirty="0" sz="1000">
                <a:solidFill>
                  <a:srgbClr val="E8EDF2"/>
                </a:solidFill>
              </a:rPr>
              <a:t> : le modèle discrimine 32 % mieux que l'aléatoire pur (AUC=0.50).</a:t>
            </a:r>
          </a:p>
        </p:txBody>
      </p:sp>
      <p:sp>
        <p:nvSpPr>
          <p:cNvPr id="11" name="Shape 9"/>
          <p:cNvSpPr/>
          <p:nvPr/>
        </p:nvSpPr>
        <p:spPr>
          <a:xfrm>
            <a:off x="687600" y="2394000"/>
            <a:ext cx="7772400" cy="144000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85800" y="2394000"/>
            <a:ext cx="201168" cy="1440000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" y="24660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métier assumé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00"/>
            <a:ext cx="7200000" cy="917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spc="-100"/>
            <a:r>
              <a:rPr lang="fr-FR" dirty="0" sz="1000" b="1">
                <a:solidFill>
                  <a:srgbClr val="E74C3C"/>
                </a:solidFill>
              </a:rPr>
              <a:t>Faux Négatif</a:t>
            </a:r>
            <a:r>
              <a:rPr lang="fr-FR" dirty="0" sz="1000">
                <a:solidFill>
                  <a:srgbClr val="E8EDF2"/>
                </a:solidFill>
              </a:rPr>
              <a:t> = patient COVID+ renvoyé chez lui → aggravation et propagation du virus : coût sanitaire maximal.</a:t>
            </a:r>
          </a:p>
          <a:p>
            <a:pPr spc="-100"/>
            <a:r>
              <a:rPr lang="fr-FR" dirty="0" sz="1000" b="1">
                <a:solidFill>
                  <a:srgbClr val="58D68D"/>
                </a:solidFill>
              </a:rPr>
              <a:t>Faux Positif</a:t>
            </a:r>
            <a:r>
              <a:rPr lang="fr-FR" dirty="0" sz="1000">
                <a:solidFill>
                  <a:srgbClr val="E8EDF2"/>
                </a:solidFill>
              </a:rPr>
              <a:t> = patient sain convoqué pour un test PCR → contrainte légère, aucun risque vital.</a:t>
            </a:r>
          </a:p>
          <a:p>
            <a:pPr spc="-100"/>
            <a:r>
              <a:rPr lang="fr-FR" dirty="0" sz="1000" b="1">
                <a:solidFill>
                  <a:srgbClr val="5DADE2"/>
                </a:solidFill>
              </a:rPr>
              <a:t>Décision assumée :</a:t>
            </a:r>
            <a:r>
              <a:rPr lang="fr-FR" dirty="0" sz="1000">
                <a:solidFill>
                  <a:srgbClr val="E8EDF2"/>
                </a:solidFill>
              </a:rPr>
              <a:t> maximiser le Recall (83 %) au détriment de la Précision (43 %) pour ne laisser repartir aucun malade.</a:t>
            </a:r>
          </a:p>
        </p:txBody>
      </p:sp>
      <p:sp>
        <p:nvSpPr>
          <p:cNvPr id="15" name="Shape 13"/>
          <p:cNvSpPr/>
          <p:nvPr/>
        </p:nvSpPr>
        <p:spPr>
          <a:xfrm>
            <a:off x="687600" y="3906000"/>
            <a:ext cx="7772400" cy="115200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85800" y="3906000"/>
            <a:ext cx="201168" cy="1152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05840" y="3977999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74000"/>
            <a:ext cx="7200000" cy="6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spc="-100"/>
            <a:r>
              <a:rPr lang="fr-FR" dirty="0" sz="1000" b="1">
                <a:solidFill>
                  <a:srgbClr val="5DADE2"/>
                </a:solidFill>
              </a:rPr>
              <a:t>Threshold tuning :</a:t>
            </a:r>
            <a:r>
              <a:rPr lang="fr-FR" dirty="0" sz="1000">
                <a:solidFill>
                  <a:srgbClr val="E8EDF2"/>
                </a:solidFill>
              </a:rPr>
              <a:t> ajuster le seuil (défaut 0.5) pour piloter le ratio Recall/Précision selon le contexte.</a:t>
            </a:r>
          </a:p>
          <a:p>
            <a:pPr spc="-100"/>
            <a:r>
              <a:rPr lang="fr-FR" dirty="0" sz="1000" b="1">
                <a:solidFill>
                  <a:srgbClr val="5DADE2"/>
                </a:solidFill>
              </a:rPr>
              <a:t>SMOTE :</a:t>
            </a:r>
            <a:r>
              <a:rPr lang="fr-FR" dirty="0" sz="1000">
                <a:solidFill>
                  <a:srgbClr val="E8EDF2"/>
                </a:solidFill>
              </a:rPr>
              <a:t> sur-échantillonnage synthétique de la classe COVID+ pour corriger le déséquilibre (38.9/61.1 %).</a:t>
            </a:r>
          </a:p>
          <a:p>
            <a:pPr spc="-100"/>
            <a:r>
              <a:rPr lang="fr-FR" dirty="0" sz="1000" b="1">
                <a:solidFill>
                  <a:srgbClr val="5DADE2"/>
                </a:solidFill>
              </a:rPr>
              <a:t>Features enrichies :</a:t>
            </a:r>
            <a:r>
              <a:rPr lang="fr-FR" dirty="0" sz="1000">
                <a:solidFill>
                  <a:srgbClr val="E8EDF2"/>
                </a:solidFill>
              </a:rPr>
              <a:t> imagerie, résultats biologiques, durée des symptômes — non disponibles dans SISVER 2020.</a:t>
            </a:r>
          </a:p>
        </p:txBody>
      </p:sp>
      <p:sp>
        <p:nvSpPr>
          <p:cNvPr id="19" name="Shape 17"/>
          <p:cNvSpPr/>
          <p:nvPr/>
        </p:nvSpPr>
        <p:spPr>
          <a:xfrm>
            <a:off x="685800" y="5076000"/>
            <a:ext cx="77724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" y="5058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dirty="0" sz="1000">
                <a:solidFill>
                  <a:srgbClr val="888888"/>
                </a:solidFill>
              </a:rPr>
              <a:t>Merci pour votre attention  ·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1426</Words>
  <Application>Microsoft Office PowerPoint</Application>
  <PresentationFormat>Affichage à l'écran (16:9)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COVID-19 par Machine Learning</dc:title>
  <dc:subject>PptxGenJS Presentation</dc:subject>
  <dc:creator>Ynov Campus</dc:creator>
  <cp:lastModifiedBy>charly fournet</cp:lastModifiedBy>
  <cp:revision>2</cp:revision>
  <dcterms:created xsi:type="dcterms:W3CDTF">2026-05-26T14:34:04Z</dcterms:created>
  <dcterms:modified xsi:type="dcterms:W3CDTF">2026-05-26T14:49:53Z</dcterms:modified>
</cp:coreProperties>
</file>